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F0975-7696-486F-9015-E5CB999E29EE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0364-64F9-4103-8D22-7B6F8023D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47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20364-64F9-4103-8D22-7B6F8023DBB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18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5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02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199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60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1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92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97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71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63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77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84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928ED8B-8159-48C4-80CE-EA99982C875F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B651F3C-7847-4F3D-A075-3CFA9D10D6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40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yst07/semester_work2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-tree" TargetMode="External"/><Relationship Id="rId7" Type="http://schemas.openxmlformats.org/officeDocument/2006/relationships/hyperlink" Target="https://docs.python.org/3/" TargetMode="External"/><Relationship Id="rId2" Type="http://schemas.openxmlformats.org/officeDocument/2006/relationships/hyperlink" Target="https://en.wikipedia.org/wiki/2%E2%80%933_tre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" TargetMode="External"/><Relationship Id="rId5" Type="http://schemas.openxmlformats.org/officeDocument/2006/relationships/hyperlink" Target="https://www.programiz.com/dsa/b-tree" TargetMode="External"/><Relationship Id="rId4" Type="http://schemas.openxmlformats.org/officeDocument/2006/relationships/hyperlink" Target="https://www.geeksforgeeks.org/2-3-trees-search-and-insert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B63D9-D0FC-A2F4-BA15-411529AA5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2-3 </a:t>
            </a:r>
            <a:r>
              <a:rPr lang="ru-RU" dirty="0"/>
              <a:t>дерево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E036C0-0015-58A9-F9DC-4B8EE471E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</a:p>
          <a:p>
            <a:r>
              <a:rPr lang="ru-RU" dirty="0"/>
              <a:t>Чайников Никита 11-511</a:t>
            </a:r>
          </a:p>
        </p:txBody>
      </p:sp>
    </p:spTree>
    <p:extLst>
      <p:ext uri="{BB962C8B-B14F-4D97-AF65-F5344CB8AC3E}">
        <p14:creationId xmlns:p14="http://schemas.microsoft.com/office/powerpoint/2010/main" val="119645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AD49A-1B14-C51F-9AE1-EC284665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Что такое 2–3 дерево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77B43A-42EC-4A91-190E-2940234E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2–3 дерево — это сбалансированное дерево поиска, в котором:</a:t>
            </a:r>
          </a:p>
          <a:p>
            <a:r>
              <a:rPr lang="ru-RU" dirty="0">
                <a:solidFill>
                  <a:srgbClr val="404040"/>
                </a:solidFill>
              </a:rPr>
              <a:t>каждый узел хранит 1 или 2 ключа;</a:t>
            </a:r>
          </a:p>
          <a:p>
            <a:r>
              <a:rPr lang="ru-RU" dirty="0">
                <a:solidFill>
                  <a:srgbClr val="404040"/>
                </a:solidFill>
              </a:rPr>
              <a:t>каждый внутренний узел имеет 2 или 3 потомка;</a:t>
            </a:r>
          </a:p>
          <a:p>
            <a:r>
              <a:rPr lang="ru-RU" dirty="0">
                <a:solidFill>
                  <a:srgbClr val="404040"/>
                </a:solidFill>
              </a:rPr>
              <a:t>все листья находятся на одной глубине.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2–3 дерево является частным случаем B-дерева.</a:t>
            </a:r>
          </a:p>
          <a:p>
            <a:pPr marL="0" indent="0">
              <a:buNone/>
            </a:pPr>
            <a:endParaRPr lang="ru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77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73A2E-725B-E7CD-68D2-2A8BAD4C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справка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C594D-1D08-CD0A-2ECC-94EE1987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356" y="2601468"/>
            <a:ext cx="8781288" cy="3182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2–3 деревья относятся к семейству B-деревьев. </a:t>
            </a:r>
          </a:p>
          <a:p>
            <a:pPr marL="0" indent="0">
              <a:buNone/>
            </a:pPr>
            <a:r>
              <a:rPr lang="ru-RU" dirty="0"/>
              <a:t>B-деревья были предложены:</a:t>
            </a:r>
          </a:p>
          <a:p>
            <a:r>
              <a:rPr lang="ru-RU" dirty="0"/>
              <a:t>Рудольфом Байером;</a:t>
            </a:r>
          </a:p>
          <a:p>
            <a:r>
              <a:rPr lang="ru-RU" dirty="0"/>
              <a:t>Эдвардом </a:t>
            </a:r>
            <a:r>
              <a:rPr lang="ru-RU" dirty="0" err="1"/>
              <a:t>Маккрэйтом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Основная цель создания:</a:t>
            </a:r>
          </a:p>
          <a:p>
            <a:r>
              <a:rPr lang="ru-RU" dirty="0"/>
              <a:t>уменьшение высоты дерева;</a:t>
            </a:r>
          </a:p>
          <a:p>
            <a:r>
              <a:rPr lang="ru-RU" dirty="0"/>
              <a:t>ускорение поиска данных;</a:t>
            </a:r>
          </a:p>
          <a:p>
            <a:r>
              <a:rPr lang="ru-RU" dirty="0"/>
              <a:t>эффективная работа с большими объёмами информации.</a:t>
            </a:r>
          </a:p>
          <a:p>
            <a:pPr marL="0" indent="0">
              <a:buNone/>
            </a:pPr>
            <a:r>
              <a:rPr lang="ru-RU" dirty="0"/>
              <a:t>2–3 деревья используются как учебная модель сбалансированных деревьев поиска.</a:t>
            </a:r>
          </a:p>
        </p:txBody>
      </p:sp>
    </p:spTree>
    <p:extLst>
      <p:ext uri="{BB962C8B-B14F-4D97-AF65-F5344CB8AC3E}">
        <p14:creationId xmlns:p14="http://schemas.microsoft.com/office/powerpoint/2010/main" val="330666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B054D-5F93-0CB9-4C65-3A876420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2–3 дерева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84F51F-88A4-8126-18A7-8A07391CC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Узел может содержать:</a:t>
            </a:r>
          </a:p>
          <a:p>
            <a:r>
              <a:rPr lang="ru-RU" dirty="0"/>
              <a:t>1 ключ и 2 потомка;</a:t>
            </a:r>
          </a:p>
          <a:p>
            <a:r>
              <a:rPr lang="ru-RU" dirty="0"/>
              <a:t>2 ключа и 3 потомка.</a:t>
            </a:r>
          </a:p>
          <a:p>
            <a:pPr marL="0" indent="0">
              <a:buNone/>
            </a:pPr>
            <a:r>
              <a:rPr lang="ru-RU" dirty="0"/>
              <a:t>Все ключи внутри дерева хранятся в отсортированном порядке.</a:t>
            </a:r>
          </a:p>
        </p:txBody>
      </p:sp>
      <p:pic>
        <p:nvPicPr>
          <p:cNvPr id="4" name="Рисунок 3" descr="2-вершина">
            <a:extLst>
              <a:ext uri="{FF2B5EF4-FFF2-40B4-BE49-F238E27FC236}">
                <a16:creationId xmlns:a16="http://schemas.microsoft.com/office/drawing/2014/main" id="{74A62362-2C66-0593-57A2-A97B2967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627211"/>
            <a:ext cx="2000822" cy="1840756"/>
          </a:xfrm>
          <a:prstGeom prst="rect">
            <a:avLst/>
          </a:prstGeom>
        </p:spPr>
      </p:pic>
      <p:pic>
        <p:nvPicPr>
          <p:cNvPr id="5" name="Рисунок 4" descr="3-вершина">
            <a:extLst>
              <a:ext uri="{FF2B5EF4-FFF2-40B4-BE49-F238E27FC236}">
                <a16:creationId xmlns:a16="http://schemas.microsoft.com/office/drawing/2014/main" id="{78B5B55D-1AB7-EA06-BB98-FE18D633A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347" y="2634496"/>
            <a:ext cx="3096578" cy="182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1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3764AE-D7B7-4CB5-A0E1-2885E459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D8E13-56FC-1860-40DE-BD0F745E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63" y="2099144"/>
            <a:ext cx="3610691" cy="2673194"/>
          </a:xfr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2400">
                <a:solidFill>
                  <a:schemeClr val="tx1">
                    <a:lumMod val="95000"/>
                    <a:lumOff val="5000"/>
                  </a:schemeClr>
                </a:solidFill>
              </a:rPr>
              <a:t>Основной принцип работы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9C095C-3AB6-49D8-9436-3672566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BFA55-7FD3-8DA1-6223-90F96CC6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973600"/>
            <a:ext cx="5826919" cy="49242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Основная идея структуры:</a:t>
            </a:r>
          </a:p>
          <a:p>
            <a:r>
              <a:rPr lang="ru-RU" dirty="0">
                <a:solidFill>
                  <a:schemeClr val="tx1"/>
                </a:solidFill>
              </a:rPr>
              <a:t>поддержание баланса дерева после каждой операции.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Поиск:</a:t>
            </a:r>
          </a:p>
          <a:p>
            <a:r>
              <a:rPr lang="ru-RU" dirty="0">
                <a:solidFill>
                  <a:schemeClr val="tx1"/>
                </a:solidFill>
              </a:rPr>
              <a:t>выполняется спуском от корня к листу.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Вставка:</a:t>
            </a:r>
          </a:p>
          <a:p>
            <a:r>
              <a:rPr lang="ru-RU" dirty="0">
                <a:solidFill>
                  <a:schemeClr val="tx1"/>
                </a:solidFill>
              </a:rPr>
              <a:t>новый ключ добавляется в лист;</a:t>
            </a:r>
          </a:p>
          <a:p>
            <a:r>
              <a:rPr lang="ru-RU" dirty="0">
                <a:solidFill>
                  <a:schemeClr val="tx1"/>
                </a:solidFill>
              </a:rPr>
              <a:t>при переполнении выполняется </a:t>
            </a:r>
            <a:r>
              <a:rPr lang="ru-RU" dirty="0" err="1">
                <a:solidFill>
                  <a:schemeClr val="tx1"/>
                </a:solidFill>
              </a:rPr>
              <a:t>split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Удаление:</a:t>
            </a:r>
          </a:p>
          <a:p>
            <a:r>
              <a:rPr lang="ru-RU" dirty="0">
                <a:solidFill>
                  <a:schemeClr val="tx1"/>
                </a:solidFill>
              </a:rPr>
              <a:t>ключ удаляется из узла;</a:t>
            </a:r>
          </a:p>
          <a:p>
            <a:r>
              <a:rPr lang="ru-RU" dirty="0">
                <a:solidFill>
                  <a:schemeClr val="tx1"/>
                </a:solidFill>
              </a:rPr>
              <a:t>при нехватке ключей выполняются </a:t>
            </a:r>
            <a:r>
              <a:rPr lang="ru-RU" dirty="0" err="1">
                <a:solidFill>
                  <a:schemeClr val="tx1"/>
                </a:solidFill>
              </a:rPr>
              <a:t>borrow</a:t>
            </a:r>
            <a:r>
              <a:rPr lang="ru-RU" dirty="0">
                <a:solidFill>
                  <a:schemeClr val="tx1"/>
                </a:solidFill>
              </a:rPr>
              <a:t> или </a:t>
            </a:r>
            <a:r>
              <a:rPr lang="ru-RU" dirty="0" err="1">
                <a:solidFill>
                  <a:schemeClr val="tx1"/>
                </a:solidFill>
              </a:rPr>
              <a:t>merge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2574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24625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817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49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64C9C-58DB-03A8-EF91-4609DD19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799" y="1586484"/>
            <a:ext cx="3685032" cy="368503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ru-RU" sz="3000">
                <a:solidFill>
                  <a:srgbClr val="FFFFFF"/>
                </a:solidFill>
              </a:rPr>
              <a:t>Вставка (</a:t>
            </a:r>
            <a:r>
              <a:rPr lang="en-US" sz="3000">
                <a:solidFill>
                  <a:srgbClr val="FFFFFF"/>
                </a:solidFill>
              </a:rPr>
              <a:t>Insert)</a:t>
            </a:r>
            <a:endParaRPr lang="ru-RU" sz="30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001B7-90B2-63CF-8F0B-06057668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099" y="1283546"/>
            <a:ext cx="5715917" cy="39140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Этапы вставки: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</a:rPr>
              <a:t>Поиск подходящего листа.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</a:rPr>
              <a:t>Добавление нового ключа.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</a:rPr>
              <a:t>Если в узле стало 3 ключа:</a:t>
            </a:r>
          </a:p>
          <a:p>
            <a:pPr lvl="1"/>
            <a:r>
              <a:rPr lang="ru-RU" sz="1800" dirty="0">
                <a:solidFill>
                  <a:srgbClr val="404040"/>
                </a:solidFill>
              </a:rPr>
              <a:t>выполняется </a:t>
            </a:r>
            <a:r>
              <a:rPr lang="ru-RU" sz="1800" dirty="0" err="1">
                <a:solidFill>
                  <a:srgbClr val="404040"/>
                </a:solidFill>
              </a:rPr>
              <a:t>split</a:t>
            </a:r>
            <a:r>
              <a:rPr lang="ru-RU" sz="1800" dirty="0">
                <a:solidFill>
                  <a:srgbClr val="404040"/>
                </a:solidFill>
              </a:rPr>
              <a:t>;</a:t>
            </a:r>
          </a:p>
          <a:p>
            <a:pPr lvl="1"/>
            <a:r>
              <a:rPr lang="ru-RU" sz="1800" dirty="0">
                <a:solidFill>
                  <a:srgbClr val="404040"/>
                </a:solidFill>
              </a:rPr>
              <a:t>средний ключ поднимается вверх.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404040"/>
                </a:solidFill>
              </a:rPr>
              <a:t>Split</a:t>
            </a:r>
            <a:r>
              <a:rPr lang="ru-RU" dirty="0">
                <a:solidFill>
                  <a:srgbClr val="404040"/>
                </a:solidFill>
              </a:rPr>
              <a:t> может рекурсивно подниматься до корня.</a:t>
            </a:r>
          </a:p>
        </p:txBody>
      </p:sp>
    </p:spTree>
    <p:extLst>
      <p:ext uri="{BB962C8B-B14F-4D97-AF65-F5344CB8AC3E}">
        <p14:creationId xmlns:p14="http://schemas.microsoft.com/office/powerpoint/2010/main" val="66619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9D6AC-2652-9D42-88E3-E43AFBE9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ru-RU" sz="2400">
                <a:solidFill>
                  <a:schemeClr val="tx1"/>
                </a:solidFill>
              </a:rPr>
              <a:t>Поиск (</a:t>
            </a:r>
            <a:r>
              <a:rPr lang="en-US" sz="2400">
                <a:solidFill>
                  <a:schemeClr val="tx1"/>
                </a:solidFill>
              </a:rPr>
              <a:t>Search)</a:t>
            </a:r>
            <a:endParaRPr lang="ru-RU" sz="24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2D22CD-2DA9-CCC6-95BE-D1453F6F7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Поиск выполняется сравнением ключей внутри узлов.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На каждом уровне выбирается один из потомков:</a:t>
            </a:r>
          </a:p>
          <a:p>
            <a:r>
              <a:rPr lang="ru-RU" dirty="0">
                <a:solidFill>
                  <a:schemeClr val="bg1"/>
                </a:solidFill>
              </a:rPr>
              <a:t>левый;</a:t>
            </a:r>
          </a:p>
          <a:p>
            <a:r>
              <a:rPr lang="ru-RU" dirty="0">
                <a:solidFill>
                  <a:schemeClr val="bg1"/>
                </a:solidFill>
              </a:rPr>
              <a:t>средний;</a:t>
            </a:r>
          </a:p>
          <a:p>
            <a:r>
              <a:rPr lang="ru-RU" dirty="0">
                <a:solidFill>
                  <a:schemeClr val="bg1"/>
                </a:solidFill>
              </a:rPr>
              <a:t>правый.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Поиск продолжается до:</a:t>
            </a:r>
          </a:p>
          <a:p>
            <a:r>
              <a:rPr lang="ru-RU" dirty="0">
                <a:solidFill>
                  <a:schemeClr val="bg1"/>
                </a:solidFill>
              </a:rPr>
              <a:t>нахождения элемента;</a:t>
            </a:r>
          </a:p>
          <a:p>
            <a:r>
              <a:rPr lang="ru-RU" dirty="0">
                <a:solidFill>
                  <a:schemeClr val="bg1"/>
                </a:solidFill>
              </a:rPr>
              <a:t>либо достижения листа.</a:t>
            </a:r>
          </a:p>
        </p:txBody>
      </p:sp>
    </p:spTree>
    <p:extLst>
      <p:ext uri="{BB962C8B-B14F-4D97-AF65-F5344CB8AC3E}">
        <p14:creationId xmlns:p14="http://schemas.microsoft.com/office/powerpoint/2010/main" val="3692181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615BD-B711-1326-1A74-45373D32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43" y="1444753"/>
            <a:ext cx="437943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ru-RU" sz="3200">
                <a:solidFill>
                  <a:srgbClr val="FFFFFF"/>
                </a:solidFill>
              </a:rPr>
              <a:t>Удаление (</a:t>
            </a:r>
            <a:r>
              <a:rPr lang="en-US" sz="3200">
                <a:solidFill>
                  <a:srgbClr val="FFFFFF"/>
                </a:solidFill>
              </a:rPr>
              <a:t>Delete)</a:t>
            </a:r>
            <a:endParaRPr lang="ru-RU" sz="3200">
              <a:solidFill>
                <a:srgbClr val="FFFF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DAB49-3AFC-EBD4-53FE-B5ED24F64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444752"/>
            <a:ext cx="4816392" cy="39684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После удаления возможны:</a:t>
            </a:r>
          </a:p>
          <a:p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borrow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заимствование ключа у соседа;</a:t>
            </a:r>
          </a:p>
          <a:p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merge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объединение узлов.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Если после удаления узел становится пустым:</a:t>
            </a:r>
          </a:p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выполняется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rebalance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дерева.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Удаление является самой сложной операцией в 2–3 дереве.</a:t>
            </a:r>
          </a:p>
        </p:txBody>
      </p:sp>
    </p:spTree>
    <p:extLst>
      <p:ext uri="{BB962C8B-B14F-4D97-AF65-F5344CB8AC3E}">
        <p14:creationId xmlns:p14="http://schemas.microsoft.com/office/powerpoint/2010/main" val="357043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D23B8-0536-521A-7093-24989DBB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Временная сложность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C5AEB-6E74-260E-88CE-93E675007D3B}"/>
              </a:ext>
            </a:extLst>
          </p:cNvPr>
          <p:cNvSpPr txBox="1"/>
          <p:nvPr/>
        </p:nvSpPr>
        <p:spPr>
          <a:xfrm>
            <a:off x="803244" y="2638044"/>
            <a:ext cx="3063765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Причина: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дерево всегда остаётся сбалансированным;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высота дерева растёт логарифмически.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81FC86E-5CFE-CE5A-6B73-7F0D49E0E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691264"/>
              </p:ext>
            </p:extLst>
          </p:nvPr>
        </p:nvGraphicFramePr>
        <p:xfrm>
          <a:off x="5311993" y="1957739"/>
          <a:ext cx="5249811" cy="2950464"/>
        </p:xfrm>
        <a:graphic>
          <a:graphicData uri="http://schemas.openxmlformats.org/drawingml/2006/table">
            <a:tbl>
              <a:tblPr/>
              <a:tblGrid>
                <a:gridCol w="2527406">
                  <a:extLst>
                    <a:ext uri="{9D8B030D-6E8A-4147-A177-3AD203B41FA5}">
                      <a16:colId xmlns:a16="http://schemas.microsoft.com/office/drawing/2014/main" val="1805251848"/>
                    </a:ext>
                  </a:extLst>
                </a:gridCol>
                <a:gridCol w="2722405">
                  <a:extLst>
                    <a:ext uri="{9D8B030D-6E8A-4147-A177-3AD203B41FA5}">
                      <a16:colId xmlns:a16="http://schemas.microsoft.com/office/drawing/2014/main" val="1315974923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300"/>
                        <a:t>Операция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3300"/>
                        <a:t>Сложность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01707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Search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O(log n)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13208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Insert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O(log n)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7014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Delete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O(log n)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8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10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744014-077D-2066-8B6C-A4B5816A4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В худшем случае каждый внутренний узел имеет 2 потомка. Тогда число вершин растёт как: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2^h, где:</a:t>
            </a:r>
          </a:p>
          <a:p>
            <a:r>
              <a:rPr lang="ru-RU" dirty="0">
                <a:solidFill>
                  <a:srgbClr val="404040"/>
                </a:solidFill>
              </a:rPr>
              <a:t>h — высота дерева.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Следовательно: n ≈ 2^h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Берём логарифм: h ≈ </a:t>
            </a:r>
            <a:r>
              <a:rPr lang="ru-RU" dirty="0" err="1">
                <a:solidFill>
                  <a:srgbClr val="404040"/>
                </a:solidFill>
              </a:rPr>
              <a:t>log</a:t>
            </a:r>
            <a:r>
              <a:rPr lang="ru-RU" dirty="0">
                <a:solidFill>
                  <a:srgbClr val="404040"/>
                </a:solidFill>
              </a:rPr>
              <a:t>₂(n)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Все операции выполняются вдоль одного пути дерева.</a:t>
            </a:r>
          </a:p>
          <a:p>
            <a:pPr marL="0" indent="0">
              <a:buNone/>
            </a:pPr>
            <a:r>
              <a:rPr lang="ru-RU" dirty="0">
                <a:solidFill>
                  <a:srgbClr val="404040"/>
                </a:solidFill>
              </a:rPr>
              <a:t>Следовательно: O(h) = O(</a:t>
            </a:r>
            <a:r>
              <a:rPr lang="ru-RU" dirty="0" err="1">
                <a:solidFill>
                  <a:srgbClr val="404040"/>
                </a:solidFill>
              </a:rPr>
              <a:t>log</a:t>
            </a:r>
            <a:r>
              <a:rPr lang="ru-RU" dirty="0">
                <a:solidFill>
                  <a:srgbClr val="404040"/>
                </a:solidFill>
              </a:rPr>
              <a:t> n)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31B44-FEEC-B33D-A5FA-0D7FB40C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ru-RU" sz="1700">
                <a:solidFill>
                  <a:srgbClr val="FFFFFF"/>
                </a:solidFill>
              </a:rPr>
              <a:t>Краткое доказательство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94690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05DB3-51F3-80B4-28C8-DF19997C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ru-RU" sz="2000">
                <a:solidFill>
                  <a:schemeClr val="tx1"/>
                </a:solidFill>
              </a:rPr>
              <a:t>Экспериментальные данные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A18295-109D-FE4B-8C7A-DE50AC89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Было сгенерировано:</a:t>
            </a:r>
          </a:p>
          <a:p>
            <a:r>
              <a:rPr lang="ru-RU" dirty="0">
                <a:solidFill>
                  <a:schemeClr val="bg1"/>
                </a:solidFill>
              </a:rPr>
              <a:t>10000 случайных целых чисел (от 1 до 1.000.000).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Проводились эксперименты:</a:t>
            </a:r>
          </a:p>
          <a:p>
            <a:r>
              <a:rPr lang="ru-RU" dirty="0">
                <a:solidFill>
                  <a:schemeClr val="bg1"/>
                </a:solidFill>
              </a:rPr>
              <a:t>вставки;</a:t>
            </a:r>
          </a:p>
          <a:p>
            <a:r>
              <a:rPr lang="ru-RU" dirty="0">
                <a:solidFill>
                  <a:schemeClr val="bg1"/>
                </a:solidFill>
              </a:rPr>
              <a:t>Поиска(100);</a:t>
            </a:r>
          </a:p>
          <a:p>
            <a:r>
              <a:rPr lang="ru-RU" dirty="0">
                <a:solidFill>
                  <a:schemeClr val="bg1"/>
                </a:solidFill>
              </a:rPr>
              <a:t>Удаления(1000).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Измерялись:</a:t>
            </a:r>
          </a:p>
          <a:p>
            <a:r>
              <a:rPr lang="ru-RU" dirty="0">
                <a:solidFill>
                  <a:schemeClr val="bg1"/>
                </a:solidFill>
              </a:rPr>
              <a:t>время выполнения;</a:t>
            </a:r>
          </a:p>
          <a:p>
            <a:r>
              <a:rPr lang="ru-RU" dirty="0">
                <a:solidFill>
                  <a:schemeClr val="bg1"/>
                </a:solidFill>
              </a:rPr>
              <a:t>количество операций.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57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8AED9-7201-D4DB-B119-A66BA583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>
            <a:normAutofit/>
          </a:bodyPr>
          <a:lstStyle/>
          <a:p>
            <a:r>
              <a:rPr lang="ru-RU" dirty="0"/>
              <a:t>Средние результаты + Сравнение с теорией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41C58-7EBB-D5CB-8DD9-11DC148C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103" y="640079"/>
            <a:ext cx="6883072" cy="29591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Для n = 10000:</a:t>
            </a:r>
          </a:p>
          <a:p>
            <a:r>
              <a:rPr lang="ru-RU" dirty="0" err="1"/>
              <a:t>log</a:t>
            </a:r>
            <a:r>
              <a:rPr lang="ru-RU" dirty="0"/>
              <a:t>₂(10000) ≈ 13.29</a:t>
            </a:r>
          </a:p>
          <a:p>
            <a:pPr marL="0" indent="0">
              <a:buNone/>
            </a:pPr>
            <a:r>
              <a:rPr lang="ru-RU" dirty="0"/>
              <a:t>Среднее число операций:</a:t>
            </a:r>
          </a:p>
          <a:p>
            <a:r>
              <a:rPr lang="ru-RU" dirty="0" err="1"/>
              <a:t>Insert</a:t>
            </a:r>
            <a:r>
              <a:rPr lang="ru-RU" dirty="0"/>
              <a:t> ≈ 12</a:t>
            </a:r>
          </a:p>
          <a:p>
            <a:r>
              <a:rPr lang="ru-RU" dirty="0"/>
              <a:t>Search ≈ 10</a:t>
            </a:r>
          </a:p>
          <a:p>
            <a:r>
              <a:rPr lang="ru-RU" dirty="0" err="1"/>
              <a:t>Delete</a:t>
            </a:r>
            <a:r>
              <a:rPr lang="ru-RU" dirty="0"/>
              <a:t> ≈ 13</a:t>
            </a:r>
          </a:p>
          <a:p>
            <a:pPr marL="0" indent="0">
              <a:buNone/>
            </a:pPr>
            <a:r>
              <a:rPr lang="ru-RU" dirty="0"/>
              <a:t>Экспериментальные результаты подтвердили логарифмическую сложность структуры.</a:t>
            </a:r>
          </a:p>
          <a:p>
            <a:pPr marL="0" indent="0">
              <a:buNone/>
            </a:pPr>
            <a:r>
              <a:rPr lang="ru-RU" dirty="0"/>
              <a:t>На практике дерево оказалось более заполненным, поэтому среднее число операций оказалось меньше теоретической оценки худшего случая.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4763E-1F5B-4192-9E84-267D8A649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223" y="3822192"/>
            <a:ext cx="6882951" cy="20684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013361-A314-4AA8-8C94-46622655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3905450"/>
            <a:ext cx="6720840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6FC344-F7F7-18E1-FEC8-CBF1BAF5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90" y="4384179"/>
            <a:ext cx="6528816" cy="94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3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D77BA-5F5D-8ABF-DDD4-A27B30D2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Плюсы и минусы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DC0A54-59DB-192B-2B2C-971EF0434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054" y="2008764"/>
            <a:ext cx="8779512" cy="2879256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b="1" dirty="0">
                <a:solidFill>
                  <a:srgbClr val="404040"/>
                </a:solidFill>
              </a:rPr>
              <a:t>Преимущества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сбалансированность;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быстрый поиск;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логарифмическая сложность;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небольшая высота дерева.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b="1" dirty="0">
                <a:solidFill>
                  <a:srgbClr val="404040"/>
                </a:solidFill>
              </a:rPr>
              <a:t>Недостатки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сложная реализация удаления;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большое количество случаев </a:t>
            </a:r>
            <a:r>
              <a:rPr lang="ru-RU" dirty="0" err="1">
                <a:solidFill>
                  <a:srgbClr val="404040"/>
                </a:solidFill>
              </a:rPr>
              <a:t>rebalance</a:t>
            </a:r>
            <a:r>
              <a:rPr lang="ru-RU" dirty="0">
                <a:solidFill>
                  <a:srgbClr val="404040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rgbClr val="404040"/>
                </a:solidFill>
              </a:rPr>
              <a:t>более сложная структура по сравнению с BST.</a:t>
            </a:r>
          </a:p>
        </p:txBody>
      </p:sp>
    </p:spTree>
    <p:extLst>
      <p:ext uri="{BB962C8B-B14F-4D97-AF65-F5344CB8AC3E}">
        <p14:creationId xmlns:p14="http://schemas.microsoft.com/office/powerpoint/2010/main" val="188046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2C323-E9ED-08AD-61D3-F9B48AD1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ru-RU" sz="1900">
                <a:solidFill>
                  <a:srgbClr val="FFFFFF"/>
                </a:solidFill>
              </a:rPr>
              <a:t>Применимость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0A7A25-2F5F-FF5B-47B4-4F779291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b="1" dirty="0"/>
              <a:t>Где используются B-деревья</a:t>
            </a:r>
          </a:p>
          <a:p>
            <a:pPr marL="0" indent="0">
              <a:buNone/>
            </a:pPr>
            <a:r>
              <a:rPr lang="ru-RU" dirty="0"/>
              <a:t>B-деревья и их модификации используются:</a:t>
            </a:r>
          </a:p>
          <a:p>
            <a:r>
              <a:rPr lang="ru-RU" dirty="0"/>
              <a:t>в базах данных;</a:t>
            </a:r>
          </a:p>
          <a:p>
            <a:r>
              <a:rPr lang="ru-RU" dirty="0"/>
              <a:t>файловых системах;</a:t>
            </a:r>
          </a:p>
          <a:p>
            <a:r>
              <a:rPr lang="ru-RU" dirty="0"/>
              <a:t>индексах;</a:t>
            </a:r>
          </a:p>
          <a:p>
            <a:r>
              <a:rPr lang="ru-RU" dirty="0"/>
              <a:t>системах хранения данных.</a:t>
            </a:r>
          </a:p>
          <a:p>
            <a:pPr marL="0" indent="0">
              <a:buNone/>
            </a:pPr>
            <a:r>
              <a:rPr lang="ru-RU" dirty="0"/>
              <a:t>Основное преимущество:</a:t>
            </a:r>
          </a:p>
          <a:p>
            <a:r>
              <a:rPr lang="ru-RU" dirty="0"/>
              <a:t>уменьшение числа переходов по дереву.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0876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8088E-2C21-907C-942A-AEB1A2A1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0D4C26-5F09-43C0-2539-C2053D14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В ходе работы была реализована структура данных 2–3 дерево. Были реализованы операции:</a:t>
            </a:r>
          </a:p>
          <a:p>
            <a:r>
              <a:rPr lang="ru-RU" dirty="0"/>
              <a:t>вставки;</a:t>
            </a:r>
          </a:p>
          <a:p>
            <a:r>
              <a:rPr lang="ru-RU" dirty="0"/>
              <a:t>поиска;</a:t>
            </a:r>
          </a:p>
          <a:p>
            <a:r>
              <a:rPr lang="ru-RU" dirty="0"/>
              <a:t>удаления.</a:t>
            </a:r>
          </a:p>
          <a:p>
            <a:pPr marL="0" indent="0">
              <a:buNone/>
            </a:pPr>
            <a:r>
              <a:rPr lang="ru-RU" dirty="0"/>
              <a:t>Экспериментальные результаты подтвердили:</a:t>
            </a:r>
          </a:p>
          <a:p>
            <a:r>
              <a:rPr lang="ru-RU" dirty="0"/>
              <a:t>эффективность структуры;</a:t>
            </a:r>
          </a:p>
          <a:p>
            <a:r>
              <a:rPr lang="ru-RU" dirty="0"/>
              <a:t>логарифмическую сложность операций;</a:t>
            </a:r>
          </a:p>
          <a:p>
            <a:r>
              <a:rPr lang="ru-RU" dirty="0"/>
              <a:t>преимущества сбалансированных деревьев поиска.</a:t>
            </a:r>
          </a:p>
        </p:txBody>
      </p:sp>
    </p:spTree>
    <p:extLst>
      <p:ext uri="{BB962C8B-B14F-4D97-AF65-F5344CB8AC3E}">
        <p14:creationId xmlns:p14="http://schemas.microsoft.com/office/powerpoint/2010/main" val="58698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F3829-7D49-9C9A-C9A8-17A24E19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Репозиторий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6D6A2-4E15-E1A5-7E9C-AB917A421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hlinkClick r:id="rId2"/>
              </a:rPr>
              <a:t>https://github.com/deyst07/semester_work2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076619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7C202-1C60-CA91-BC3A-F312B973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9A3E48-FE27-B10D-DF24-E0290139C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Использованные источники</a:t>
            </a:r>
          </a:p>
          <a:p>
            <a:r>
              <a:rPr lang="en-US" dirty="0">
                <a:hlinkClick r:id="rId2"/>
              </a:rPr>
              <a:t>Wikipedia — 2–3 tree </a:t>
            </a:r>
            <a:endParaRPr lang="en-US" dirty="0"/>
          </a:p>
          <a:p>
            <a:r>
              <a:rPr lang="en-US" dirty="0">
                <a:hlinkClick r:id="rId3"/>
              </a:rPr>
              <a:t>Wikipedia — B-tree </a:t>
            </a:r>
            <a:endParaRPr lang="en-US" dirty="0"/>
          </a:p>
          <a:p>
            <a:r>
              <a:rPr lang="en-US" dirty="0" err="1">
                <a:hlinkClick r:id="rId4"/>
              </a:rPr>
              <a:t>GeeksForGeeks</a:t>
            </a:r>
            <a:r>
              <a:rPr lang="en-US" dirty="0">
                <a:hlinkClick r:id="rId4"/>
              </a:rPr>
              <a:t> — 2-3 Trees</a:t>
            </a:r>
            <a:r>
              <a:rPr lang="en-US" dirty="0"/>
              <a:t> </a:t>
            </a:r>
          </a:p>
          <a:p>
            <a:r>
              <a:rPr lang="en-US" dirty="0" err="1">
                <a:hlinkClick r:id="rId5"/>
              </a:rPr>
              <a:t>Programiz</a:t>
            </a:r>
            <a:r>
              <a:rPr lang="en-US" dirty="0">
                <a:hlinkClick r:id="rId5"/>
              </a:rPr>
              <a:t> — B-Tree Data Structure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Stack Overflow </a:t>
            </a:r>
            <a:endParaRPr lang="en-US" dirty="0"/>
          </a:p>
          <a:p>
            <a:r>
              <a:rPr lang="en-US" dirty="0">
                <a:hlinkClick r:id="rId7"/>
              </a:rPr>
              <a:t>Python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81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F51F0-1810-8F9D-0246-89E2F295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788" y="1136142"/>
            <a:ext cx="7964424" cy="4585716"/>
          </a:xfrm>
        </p:spPr>
        <p:txBody>
          <a:bodyPr>
            <a:normAutofit/>
          </a:bodyPr>
          <a:lstStyle/>
          <a:p>
            <a:r>
              <a:rPr lang="ru-RU" sz="9600" b="1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65865617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52</TotalTime>
  <Words>629</Words>
  <Application>Microsoft Office PowerPoint</Application>
  <PresentationFormat>Широкоэкранный</PresentationFormat>
  <Paragraphs>138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Aptos</vt:lpstr>
      <vt:lpstr>Arial</vt:lpstr>
      <vt:lpstr>Corbel</vt:lpstr>
      <vt:lpstr>Gill Sans MT</vt:lpstr>
      <vt:lpstr>Посылка</vt:lpstr>
      <vt:lpstr>2-3 дерево</vt:lpstr>
      <vt:lpstr>Что такое 2–3 дерево</vt:lpstr>
      <vt:lpstr>Историческая справка</vt:lpstr>
      <vt:lpstr>Структура 2–3 дерева</vt:lpstr>
      <vt:lpstr>Основной принцип работы</vt:lpstr>
      <vt:lpstr>Вставка (Insert)</vt:lpstr>
      <vt:lpstr>Поиск (Search)</vt:lpstr>
      <vt:lpstr>Удаление (Delete)</vt:lpstr>
      <vt:lpstr>Временная сложность</vt:lpstr>
      <vt:lpstr>Краткое доказательство сложности</vt:lpstr>
      <vt:lpstr>Экспериментальные данные</vt:lpstr>
      <vt:lpstr>Средние результаты + Сравнение с теорией</vt:lpstr>
      <vt:lpstr>Плюсы и минусы</vt:lpstr>
      <vt:lpstr>Применимость</vt:lpstr>
      <vt:lpstr>Заключение</vt:lpstr>
      <vt:lpstr>Репозиторий</vt:lpstr>
      <vt:lpstr>Список литературы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wonderful dreams</dc:creator>
  <cp:lastModifiedBy>wonderful dreams</cp:lastModifiedBy>
  <cp:revision>1</cp:revision>
  <dcterms:created xsi:type="dcterms:W3CDTF">2026-05-10T10:05:33Z</dcterms:created>
  <dcterms:modified xsi:type="dcterms:W3CDTF">2026-05-10T10:58:24Z</dcterms:modified>
</cp:coreProperties>
</file>